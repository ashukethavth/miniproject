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19"/>
  </p:handoutMasterIdLst>
  <p:sldIdLst>
    <p:sldId id="256" r:id="rId3"/>
    <p:sldId id="259" r:id="rId4"/>
    <p:sldId id="327" r:id="rId6"/>
    <p:sldId id="333" r:id="rId7"/>
    <p:sldId id="350" r:id="rId8"/>
    <p:sldId id="351" r:id="rId9"/>
    <p:sldId id="328" r:id="rId10"/>
    <p:sldId id="329" r:id="rId11"/>
    <p:sldId id="335" r:id="rId12"/>
    <p:sldId id="330" r:id="rId13"/>
    <p:sldId id="345" r:id="rId14"/>
    <p:sldId id="346" r:id="rId15"/>
    <p:sldId id="352" r:id="rId16"/>
    <p:sldId id="349" r:id="rId17"/>
    <p:sldId id="326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53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1" autoAdjust="0"/>
    <p:restoredTop sz="94660"/>
  </p:normalViewPr>
  <p:slideViewPr>
    <p:cSldViewPr showGuides="1">
      <p:cViewPr varScale="1">
        <p:scale>
          <a:sx n="82" d="100"/>
          <a:sy n="82" d="100"/>
        </p:scale>
        <p:origin x="1498" y="62"/>
      </p:cViewPr>
      <p:guideLst>
        <p:guide orient="horz" pos="2160"/>
        <p:guide pos="29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18AD1CAA-8E5C-49F6-8938-72360B2BE9BA}" type="datetimeFigureOut">
              <a:rPr lang="en-US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E5D8934D-CC79-41E4-84A0-8E210C28D030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4D85942-DFC5-4B20-B5C9-CCE8F5D93199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6A9F5FE-36A4-49E1-AC13-A222A2289585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AE71682-A2E8-46DE-A7B3-20F0B3AD6C2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A9F5FE-36A4-49E1-AC13-A222A2289585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013B-3371-48FC-9407-F92BD42A5CA9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673AE-CDED-468E-9E60-13F9774D8EF6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E8CA06-C0FA-4A35-B9BF-5CBFE5CB9336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1BEF2-95F5-417E-9097-980329164CC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E9779-8E71-4A34-ACDD-8BB13DEE2332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887B5C6-F485-457A-88E2-FF928EC41EA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B0931-B853-4338-857D-EC51455FBAEA}" type="datetime1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30785C-3C3F-4D72-B6E5-E6D38F55586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F35988-ABC1-47B4-8337-180F809C6E04}" type="datetime1">
              <a:rPr lang="en-US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98D808-031B-4F6F-A439-4ABFE2BF389D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F58F0-0B71-4C0D-BBA6-85074C846FE6}" type="datetime1">
              <a:rPr lang="en-US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35500-9D2C-47A3-BF87-3935A794A65A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3D11A-F1DE-4A50-95C9-D10180535CA0}" type="datetime1">
              <a:rPr lang="en-US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610838-7400-411B-B689-2F6C35481D0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D890D1-ADAD-4367-ADA2-AFAFF9F81D11}" type="datetime1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EEDBB8-2F2A-4E69-B4E6-C45A1A21932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3651B4-9843-45AB-8E22-71543FB46DA2}" type="datetime1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600780-8261-4F2C-8AB1-4FC7C46475CB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94FE15-DD9A-40C6-9AF8-2CF0E2DC9FED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6A04B-D0EF-4595-87CA-07FE647A1A75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FD5AE-DF06-40E8-B10A-A7E8871D9706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B4311E-D5F2-40A4-B2D6-DDC2AFD8610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6A74232-FC8A-49F8-80E8-B50A0BA80DF4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CSE MINI PROJECT REVIEW-1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1E04AAF9-47BF-4F68-B79A-2D00C1CD1B6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152400" y="177230"/>
            <a:ext cx="8839200" cy="64770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0869" y="913787"/>
            <a:ext cx="7315200" cy="838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600" b="1" dirty="0"/>
              <a:t>   </a:t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COMPUTER SCIENCE </a:t>
            </a:r>
            <a:r>
              <a:rPr lang="en-US" sz="2400" b="1" dirty="0" smtClean="0">
                <a:solidFill>
                  <a:srgbClr val="FF0000"/>
                </a:solidFill>
              </a:rPr>
              <a:t>AND</a:t>
            </a:r>
            <a:r>
              <a:rPr lang="en-US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ENGINEERING </a:t>
            </a:r>
            <a:br>
              <a:rPr lang="en-US" sz="2400" b="1" dirty="0"/>
            </a:br>
            <a:endParaRPr lang="en-US" sz="3600" b="1" dirty="0"/>
          </a:p>
        </p:txBody>
      </p:sp>
      <p:sp>
        <p:nvSpPr>
          <p:cNvPr id="7" name="Subtitle 2"/>
          <p:cNvSpPr txBox="1"/>
          <p:nvPr/>
        </p:nvSpPr>
        <p:spPr>
          <a:xfrm>
            <a:off x="228600" y="5181600"/>
            <a:ext cx="8686800" cy="137160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rmAutofit fontScale="77500" lnSpcReduction="20000"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Guide Details</a:t>
            </a:r>
            <a:endParaRPr lang="en-US" sz="3300" b="1" u="sng" dirty="0">
              <a:solidFill>
                <a:srgbClr val="FF0000"/>
              </a:solidFill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altLang="en-US" sz="3000" b="1" dirty="0">
                <a:solidFill>
                  <a:srgbClr val="002060"/>
                </a:solidFill>
                <a:cs typeface="Calibri" panose="020F0502020204030204"/>
              </a:rPr>
              <a:t>Mr. Muralidhar Morya</a:t>
            </a:r>
            <a:endParaRPr lang="en-US" altLang="en-US" sz="3000" b="1" dirty="0">
              <a:solidFill>
                <a:srgbClr val="002060"/>
              </a:solidFill>
              <a:cs typeface="Calibri" panose="020F0502020204030204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altLang="en-US" sz="2200" b="1" dirty="0">
                <a:solidFill>
                  <a:srgbClr val="002060"/>
                </a:solidFill>
              </a:rPr>
              <a:t>Assistant professor</a:t>
            </a:r>
            <a:endParaRPr lang="en-US" altLang="en-US" sz="2200" b="1" dirty="0">
              <a:solidFill>
                <a:srgbClr val="002060"/>
              </a:solidFill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200" b="1" dirty="0">
                <a:solidFill>
                  <a:srgbClr val="002060"/>
                </a:solidFill>
              </a:rPr>
              <a:t>Department of CSE</a:t>
            </a:r>
            <a:endParaRPr lang="en-US" sz="2200" b="1" dirty="0">
              <a:solidFill>
                <a:srgbClr val="002060"/>
              </a:solidFill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200" dirty="0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2743200" y="2489835"/>
            <a:ext cx="3657600" cy="406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ctr">
            <a:normAutofit fontScale="8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 </a:t>
            </a:r>
            <a:r>
              <a:rPr lang="en-US" sz="2400" b="1" dirty="0" smtClean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23MPCS-G13</a:t>
            </a:r>
            <a:endParaRPr lang="en-US" sz="24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/>
          <p:nvPr/>
        </p:nvSpPr>
        <p:spPr>
          <a:xfrm>
            <a:off x="304800" y="1524000"/>
            <a:ext cx="8610600" cy="842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1440" tIns="45720" rIns="91440" bIns="45720" anchor="ctr">
            <a:normAutofit fontScale="80000"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en-US" sz="28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 Client-Side Hybrid AES–ECC  Framework with Role-Based AccessControl for Secure Cloud File Sharing</a:t>
            </a:r>
            <a:endParaRPr lang="en-US" altLang="en-US" sz="2800" b="1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219200" y="3101340"/>
          <a:ext cx="6934200" cy="1783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80415"/>
                <a:gridCol w="1838960"/>
                <a:gridCol w="4314825"/>
              </a:tblGrid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S. No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Roll. No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Student Name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1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23881A05DB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Kethavath Ashwitha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2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23881A05DR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/>
                        <a:t>Mohammed Musthabeen Ahmad</a:t>
                      </a:r>
                      <a:endParaRPr lang="en-US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3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/>
                        <a:t>23881A05CJ</a:t>
                      </a: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2000" b="1" dirty="0"/>
                        <a:t>Burra Nandini Goud</a:t>
                      </a:r>
                      <a:endParaRPr lang="en-US" alt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114" y="267313"/>
            <a:ext cx="1244394" cy="951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Mini 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</a:rPr>
              <a:t>Project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Outlines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14413"/>
            <a:ext cx="8763000" cy="5614987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 smtClean="0">
                <a:ea typeface="+mn-lt"/>
                <a:cs typeface="+mn-lt"/>
              </a:rPr>
              <a:t>Introduction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Existing System Vs Proposed </a:t>
            </a:r>
            <a:endParaRPr lang="en-US" sz="1800" b="1" dirty="0" smtClean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 smtClean="0">
                <a:ea typeface="+mn-lt"/>
                <a:cs typeface="+mn-lt"/>
              </a:rPr>
              <a:t>Research Gaps </a:t>
            </a:r>
            <a:endParaRPr lang="en-US" sz="1800" b="1" dirty="0" smtClean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 smtClean="0">
                <a:ea typeface="+mn-lt"/>
                <a:cs typeface="+mn-lt"/>
              </a:rPr>
              <a:t>Problem Statement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Objectives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Proposed Project Outcomes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>
                <a:ea typeface="+mn-lt"/>
                <a:cs typeface="+mn-lt"/>
              </a:rPr>
              <a:t>Software and Hardware Requirements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1800" b="1" dirty="0" smtClean="0">
                <a:ea typeface="+mn-lt"/>
                <a:cs typeface="+mn-lt"/>
              </a:rPr>
              <a:t>Architectural Diagram</a:t>
            </a:r>
            <a:endParaRPr lang="en-US" sz="1800" dirty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>
                <a:ea typeface="+mn-lt"/>
                <a:cs typeface="+mn-lt"/>
              </a:rPr>
              <a:t>Proposed </a:t>
            </a:r>
            <a:r>
              <a:rPr lang="en-US" sz="1800" b="1" dirty="0" smtClean="0">
                <a:ea typeface="+mn-lt"/>
                <a:cs typeface="+mn-lt"/>
              </a:rPr>
              <a:t>Methods </a:t>
            </a:r>
            <a:r>
              <a:rPr lang="en-US" sz="1800" b="1" dirty="0">
                <a:ea typeface="+mn-lt"/>
                <a:cs typeface="+mn-lt"/>
              </a:rPr>
              <a:t>and Algorithms </a:t>
            </a:r>
            <a:endParaRPr lang="en-US" sz="1800" b="1" dirty="0" smtClean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 smtClean="0">
                <a:ea typeface="+mn-lt"/>
                <a:cs typeface="+mn-lt"/>
              </a:rPr>
              <a:t>Results</a:t>
            </a:r>
            <a:endParaRPr lang="en-US" sz="1800" b="1" dirty="0" smtClean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 smtClean="0">
                <a:ea typeface="+mn-lt"/>
                <a:cs typeface="+mn-lt"/>
              </a:rPr>
              <a:t>Research Paper (Acceptance Proofs)</a:t>
            </a:r>
            <a:endParaRPr lang="en-US" sz="1800" b="1" dirty="0" smtClean="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Font typeface="Arial,Sans-Serif" panose="020B0604020202020204" pitchFamily="34" charset="0"/>
              <a:defRPr/>
            </a:pPr>
            <a:r>
              <a:rPr lang="en-US" sz="1800" b="1" dirty="0" smtClean="0">
                <a:ea typeface="+mn-lt"/>
                <a:cs typeface="+mn-lt"/>
              </a:rPr>
              <a:t>Conclusion</a:t>
            </a: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  <a:p>
            <a:pPr fontAlgn="auto">
              <a:spcAft>
                <a:spcPts val="0"/>
              </a:spcAft>
              <a:defRPr/>
            </a:pPr>
            <a:endParaRPr lang="en-US" sz="11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DC7A18A-CF2F-40C0-9C89-65D9A71130B3}" type="slidenum">
              <a:rPr lang="en-US" altLang="en-US">
                <a:solidFill>
                  <a:srgbClr val="898989"/>
                </a:solidFill>
              </a:rPr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</a:t>
            </a:r>
            <a:r>
              <a:rPr lang="en-US" dirty="0" smtClean="0"/>
              <a:t>CSE : </a:t>
            </a:r>
            <a:r>
              <a:rPr lang="en-US" dirty="0"/>
              <a:t>MINI </a:t>
            </a:r>
            <a:r>
              <a:rPr lang="en-US" dirty="0" smtClean="0"/>
              <a:t>PROJECT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Introduction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 lnSpcReduction="20000"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Cloud computing has revolutionized data storage and access by providing scalable and cost-effective solutions.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However, it raises serious concerns about data security, privacy, and unauthorized access.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This project focuses on developing a Secure Cloud File Sharing System.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It uses client-side encryption to protect data before uploading to the cloud.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Technologies like AES, ECC, and Role-Based Access Control (RBAC) are used to enhance security.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The goal is to ensure data confidentiality, secure access, and user control over cloud-stored data.</a:t>
            </a:r>
            <a:endParaRPr lang="en-US" sz="2800" dirty="0">
              <a:cs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DEC69A3-0958-4FE2-B1B4-1106920B80C0}" type="slidenum">
              <a:rPr lang="en-US" altLang="en-US">
                <a:solidFill>
                  <a:srgbClr val="898989"/>
                </a:solidFill>
              </a:rPr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628900" y="6264275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</a:t>
            </a:r>
            <a:r>
              <a:rPr lang="en-US" dirty="0" smtClean="0"/>
              <a:t>CSE : </a:t>
            </a:r>
            <a:r>
              <a:rPr lang="en-US" dirty="0"/>
              <a:t>MINI </a:t>
            </a:r>
            <a:r>
              <a:rPr lang="en-US" dirty="0" smtClean="0"/>
              <a:t>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Existing System Vs Proposed 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  <a:endParaRPr lang="en-US" dirty="0"/>
          </a:p>
        </p:txBody>
      </p:sp>
      <p:graphicFrame>
        <p:nvGraphicFramePr>
          <p:cNvPr id="8" name="Content Placeholder 7"/>
          <p:cNvGraphicFramePr/>
          <p:nvPr>
            <p:ph idx="1"/>
          </p:nvPr>
        </p:nvGraphicFramePr>
        <p:xfrm>
          <a:off x="457200" y="16002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/>
          <p:cNvSpPr txBox="1"/>
          <p:nvPr/>
        </p:nvSpPr>
        <p:spPr bwMode="auto">
          <a:xfrm>
            <a:off x="3810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/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 panose="020F0502020204030204"/>
            </a:endParaRPr>
          </a:p>
        </p:txBody>
      </p:sp>
      <p:sp>
        <p:nvSpPr>
          <p:cNvPr id="11" name="Footer Placeholder 6"/>
          <p:cNvSpPr txBox="1"/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smtClean="0"/>
              <a:t>DEPARTMENT OF CSE : MINI PROJECT</a:t>
            </a:r>
            <a:endParaRPr lang="en-US" dirty="0"/>
          </a:p>
        </p:txBody>
      </p:sp>
      <p:graphicFrame>
        <p:nvGraphicFramePr>
          <p:cNvPr id="12" name="Table 11"/>
          <p:cNvGraphicFramePr/>
          <p:nvPr>
            <p:custDataLst>
              <p:tags r:id="rId2"/>
            </p:custDataLst>
          </p:nvPr>
        </p:nvGraphicFramePr>
        <p:xfrm>
          <a:off x="1371600" y="1902460"/>
          <a:ext cx="6399530" cy="2825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/>
                <a:gridCol w="3199765"/>
              </a:tblGrid>
              <a:tr h="8089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Existing System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Proposed System</a:t>
                      </a:r>
                      <a:endParaRPr lang="en-US" altLang="en-US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Server-side encryption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Client-side encryption</a:t>
                      </a:r>
                      <a:endParaRPr lang="en-US" altLang="en-US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Cloud provider controls data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User controls data</a:t>
                      </a:r>
                      <a:endParaRPr lang="en-US" altLang="en-US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Risk of data leakage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High security</a:t>
                      </a:r>
                      <a:endParaRPr lang="en-US" altLang="en-US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Weak access control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RBAC implemented</a:t>
                      </a:r>
                      <a:endParaRPr lang="en-US" altLang="en-US"/>
                    </a:p>
                  </a:txBody>
                  <a:tcPr/>
                </a:tc>
              </a:tr>
              <a:tr h="4032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No key protection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AES + ECC used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Research Gaps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/>
          <p:cNvSpPr txBox="1"/>
          <p:nvPr/>
        </p:nvSpPr>
        <p:spPr bwMode="auto">
          <a:xfrm>
            <a:off x="3048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normAutofit lnSpcReduction="2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Most cloud systems rely on server-side security, reducing user control.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Lack of client-side encryption exposes sensitive data to cloud providers.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Key management is complex and difficult to handle efficiently.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Existing systems may have high computational overhead.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Weak or limited access control mechanisms increase security risks.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Use of static encryption keys makes systems vulnerable if compromised.</a:t>
            </a:r>
            <a:endParaRPr lang="en-US" altLang="en-US" sz="2800" dirty="0">
              <a:cs typeface="Calibri" panose="020F0502020204030204"/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Many solutions do not fully protect against insider threats.</a:t>
            </a:r>
            <a:endParaRPr lang="en-US" sz="2800" dirty="0">
              <a:cs typeface="Calibri" panose="020F0502020204030204"/>
            </a:endParaRPr>
          </a:p>
        </p:txBody>
      </p:sp>
      <p:sp>
        <p:nvSpPr>
          <p:cNvPr id="11" name="Footer Placeholder 6"/>
          <p:cNvSpPr txBox="1"/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C00000"/>
                </a:solidFill>
              </a:rPr>
              <a:t>Problem Statement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5C5A9F0-E73D-4B60-A9C9-5ECD709B9C67}" type="slidenum">
              <a:rPr lang="en-US" altLang="en-US">
                <a:solidFill>
                  <a:srgbClr val="898989"/>
                </a:solidFill>
              </a:rPr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3622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REVIEW-1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4" name="Content Placeholder 2"/>
          <p:cNvSpPr txBox="1"/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en-US" sz="2800" dirty="0">
                <a:cs typeface="Calibri" panose="020F0502020204030204"/>
              </a:rPr>
              <a:t>Cloud storage systems lack sufficient security due to reliance on server-side encryption, leading to risks like data breaches, unauthorized access, poor key management, and limited user control over data.</a:t>
            </a:r>
            <a:endParaRPr lang="en-US" sz="2800" dirty="0">
              <a:cs typeface="Calibri" panose="020F0502020204030204"/>
            </a:endParaRPr>
          </a:p>
        </p:txBody>
      </p:sp>
      <p:sp>
        <p:nvSpPr>
          <p:cNvPr id="11" name="Footer Placeholder 6"/>
          <p:cNvSpPr txBox="1"/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3200" b="1" dirty="0">
                <a:solidFill>
                  <a:srgbClr val="C00000"/>
                </a:solidFill>
              </a:rPr>
              <a:t>Proposed Project Objectives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marL="0" indent="0" fontAlgn="auto">
              <a:spcAft>
                <a:spcPts val="0"/>
              </a:spcAft>
              <a:buNone/>
              <a:defRPr/>
            </a:pPr>
            <a:endParaRPr lang="en-US" altLang="en-US" sz="2500" dirty="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/>
              <a:t>To develop a secure cloud file sharing system</a:t>
            </a:r>
            <a:endParaRPr lang="en-US" altLang="en-US" sz="2500" dirty="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/>
              <a:t>To implement client-side encryption for data protection</a:t>
            </a:r>
            <a:endParaRPr lang="en-US" altLang="en-US" sz="2500" dirty="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/>
              <a:t>To use AES algorithm for securing data</a:t>
            </a:r>
            <a:endParaRPr lang="en-US" altLang="en-US" sz="2500" dirty="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/>
              <a:t>To apply ECC for secure key exchange</a:t>
            </a:r>
            <a:endParaRPr lang="en-US" altLang="en-US" sz="2500" dirty="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/>
              <a:t>To design Role-Based Access Control (RBAC)</a:t>
            </a:r>
            <a:endParaRPr lang="en-US" altLang="en-US" sz="2500" dirty="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/>
              <a:t>To prevent unauthorized access and data breaches</a:t>
            </a:r>
            <a:endParaRPr lang="en-US" altLang="en-US" sz="2500" dirty="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/>
              <a:t>To ensure efficient performance and scalability</a:t>
            </a:r>
            <a:endParaRPr lang="en-US" altLang="en-US" sz="2500" dirty="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/>
              <a:t>Short Version (Single Line)</a:t>
            </a:r>
            <a:endParaRPr lang="en-US" altLang="en-US" sz="2500" dirty="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500" dirty="0"/>
              <a:t>To design a secure cloud storage system using client-side encryption, AES, ECC, and RBAC to ensure data confidentiality and controlled access.</a:t>
            </a:r>
            <a:endParaRPr lang="en-US" sz="25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C13DFD-FA58-48AD-B109-2C30D8D6F058}" type="slidenum">
              <a:rPr lang="en-US" altLang="en-US">
                <a:solidFill>
                  <a:srgbClr val="898989"/>
                </a:solidFill>
              </a:rPr>
            </a:fld>
            <a:endParaRPr lang="en-US" altLang="en-US">
              <a:solidFill>
                <a:srgbClr val="898989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/>
          <p:cNvSpPr txBox="1"/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Proposed Project Outcomes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80000"/>
          </a:bodyPr>
          <a:lstStyle/>
          <a:p>
            <a:r>
              <a:rPr lang="en-US" altLang="en-US" dirty="0"/>
              <a:t>Secure cloud storage system with enhanced data protection</a:t>
            </a:r>
            <a:endParaRPr lang="en-US" altLang="en-US" dirty="0"/>
          </a:p>
          <a:p>
            <a:r>
              <a:rPr lang="en-US" altLang="en-US" dirty="0"/>
              <a:t>Successful implementation of client-side encryption</a:t>
            </a:r>
            <a:endParaRPr lang="en-US" altLang="en-US" dirty="0"/>
          </a:p>
          <a:p>
            <a:r>
              <a:rPr lang="en-US" altLang="en-US" dirty="0"/>
              <a:t>Improved data confidentiality and privacy</a:t>
            </a:r>
            <a:endParaRPr lang="en-US" altLang="en-US" dirty="0"/>
          </a:p>
          <a:p>
            <a:r>
              <a:rPr lang="en-US" altLang="en-US" dirty="0"/>
              <a:t>Efficient key management using ECC</a:t>
            </a:r>
            <a:endParaRPr lang="en-US" altLang="en-US" dirty="0"/>
          </a:p>
          <a:p>
            <a:r>
              <a:rPr lang="en-US" altLang="en-US" dirty="0"/>
              <a:t>Controlled access using RBAC mechanism</a:t>
            </a:r>
            <a:endParaRPr lang="en-US" altLang="en-US" dirty="0"/>
          </a:p>
          <a:p>
            <a:r>
              <a:rPr lang="en-US" altLang="en-US" dirty="0"/>
              <a:t>Reduced risk of unauthorized access and data breaches</a:t>
            </a:r>
            <a:endParaRPr lang="en-US" altLang="en-US" dirty="0"/>
          </a:p>
          <a:p>
            <a:r>
              <a:rPr lang="en-US" altLang="en-US" dirty="0"/>
              <a:t>Reliable and user-friendly system performance</a:t>
            </a:r>
            <a:endParaRPr lang="en-US" altLang="en-US" dirty="0"/>
          </a:p>
          <a:p>
            <a:r>
              <a:rPr lang="en-US" altLang="en-US" dirty="0"/>
              <a:t>Short Version (Single Line)</a:t>
            </a:r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A secure and efficient cloud file sharing system that ensures data confidentiality, controlled access, and protection against security thr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/>
          <p:cNvSpPr txBox="1"/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Software and Hardware Requirements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 lnSpcReduction="20000"/>
          </a:bodyPr>
          <a:lstStyle/>
          <a:p>
            <a:pPr>
              <a:buNone/>
            </a:pPr>
            <a:r>
              <a:rPr lang="en-US" altLang="en-US" sz="2800" dirty="0"/>
              <a:t>Software Requirements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Operating System: Windows / Linux / macOS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Programming Language: Python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Frontend: React.js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Backend: Firebase Authentication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Database: MySQL / SQLite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Cloud Platform: AWS / Google Cloud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Libraries: Cryptography libraries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Hardware Requirements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Processor: Intel i3 or higher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RAM: Minimum 4 GB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Storage: 500 GB Hard Disk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System Type: 64-bit</a:t>
            </a:r>
            <a:endParaRPr lang="en-US" altLang="en-US" sz="2800" dirty="0"/>
          </a:p>
          <a:p>
            <a:pPr>
              <a:buNone/>
            </a:pPr>
            <a:r>
              <a:rPr lang="en-US" altLang="en-US" sz="2800" dirty="0"/>
              <a:t>Internet Connection</a:t>
            </a:r>
            <a:endParaRPr lang="en-US" alt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8" name="Footer Placeholder 6"/>
          <p:cNvSpPr txBox="1"/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4" y="272283"/>
            <a:ext cx="7638305" cy="611161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3200" b="1" dirty="0">
                <a:solidFill>
                  <a:srgbClr val="C00000"/>
                </a:solidFill>
              </a:rPr>
              <a:t>Architectural Diagram</a:t>
            </a:r>
            <a:endParaRPr lang="en-US" sz="3200" b="1" dirty="0">
              <a:solidFill>
                <a:srgbClr val="C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/>
            </a:fld>
            <a:endParaRPr lang="en-US"/>
          </a:p>
        </p:txBody>
      </p:sp>
      <p:pic>
        <p:nvPicPr>
          <p:cNvPr id="4" name="Content Placeholder 3" descr="WhatsApp Image 2026-04-01 at 9.29.37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41170" y="1600200"/>
            <a:ext cx="5660390" cy="45262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6" name="Content Placeholder 2"/>
          <p:cNvSpPr txBox="1"/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 panose="020F0502020204030204"/>
            </a:endParaRPr>
          </a:p>
        </p:txBody>
      </p:sp>
      <p:sp>
        <p:nvSpPr>
          <p:cNvPr id="9" name="Footer Placeholder 6"/>
          <p:cNvSpPr txBox="1"/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  <p:pic>
        <p:nvPicPr>
          <p:cNvPr id="7" name="Picture 6" descr="WhatsApp Image 2026-04-01 at 9.29.37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1371600"/>
            <a:ext cx="6017260" cy="481139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>
                <a:solidFill>
                  <a:srgbClr val="C00000"/>
                </a:solidFill>
                <a:cs typeface="Calibri" panose="020F0502020204030204"/>
              </a:rPr>
              <a:t>PROPOSED METHOD AND ALGORITHMS</a:t>
            </a:r>
            <a:endParaRPr lang="en-US" sz="3200" b="1" dirty="0">
              <a:solidFill>
                <a:srgbClr val="C00000"/>
              </a:solidFill>
              <a:cs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/>
          <p:cNvSpPr txBox="1"/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  <p:sp>
        <p:nvSpPr>
          <p:cNvPr id="10" name="Content Placeholder 2"/>
          <p:cNvSpPr txBox="1"/>
          <p:nvPr/>
        </p:nvSpPr>
        <p:spPr bwMode="auto">
          <a:xfrm>
            <a:off x="2286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normAutofit lnSpcReduction="20000"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US" altLang="en-US" sz="2800">
                <a:sym typeface="+mn-ea"/>
              </a:rPr>
              <a:t>Client-Side Encryption: Data is encrypted on the user’s device before uploading, preventing exposure to cloud providers.</a:t>
            </a:r>
            <a:endParaRPr lang="en-US" altLang="en-US" sz="280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>
                <a:sym typeface="+mn-ea"/>
              </a:rPr>
              <a:t>Hybrid Cryptography: Combines AES for fast symmetric encryption of files and ECC for secure key exchange.</a:t>
            </a:r>
            <a:endParaRPr lang="en-US" altLang="en-US" sz="280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>
                <a:sym typeface="+mn-ea"/>
              </a:rPr>
              <a:t>Encryption: File → AES → Ciphertext; AES key → ECC → Encrypted key</a:t>
            </a:r>
            <a:endParaRPr lang="en-US" altLang="en-US" sz="280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>
                <a:sym typeface="+mn-ea"/>
              </a:rPr>
              <a:t>Decryption: ECC decrypts AES key → AES decrypts file</a:t>
            </a:r>
            <a:endParaRPr lang="en-US" altLang="en-US" sz="280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>
                <a:sym typeface="+mn-ea"/>
              </a:rPr>
              <a:t>Role-Based Access Control (RBAC): User roles (Admin, User, Viewer) determine access permissions.</a:t>
            </a:r>
            <a:endParaRPr lang="en-US" altLang="en-US" sz="280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>
                <a:sym typeface="+mn-ea"/>
              </a:rPr>
              <a:t>Multi-Factor Authentication (MFA): Adds OTP or verification for identity validation.</a:t>
            </a:r>
            <a:endParaRPr lang="en-US" altLang="en-US" sz="2800"/>
          </a:p>
          <a:p>
            <a:pPr fontAlgn="auto">
              <a:spcAft>
                <a:spcPts val="0"/>
              </a:spcAft>
              <a:defRPr/>
            </a:pPr>
            <a:r>
              <a:rPr lang="en-US" altLang="en-US" sz="2800">
                <a:sym typeface="+mn-ea"/>
              </a:rPr>
              <a:t>Secure Key Management: Keys are securely generated, stored, and exchanged to prevent misuse.</a:t>
            </a:r>
            <a:endParaRPr lang="en-US" sz="2800" dirty="0">
              <a:cs typeface="Calibri" panose="020F0502020204030204"/>
            </a:endParaRPr>
          </a:p>
        </p:txBody>
      </p:sp>
      <p:sp>
        <p:nvSpPr>
          <p:cNvPr id="11" name="Footer Placeholder 6"/>
          <p:cNvSpPr txBox="1"/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cs typeface="Calibri" panose="020F0502020204030204"/>
              </a:rPr>
              <a:t>Results</a:t>
            </a:r>
            <a:endParaRPr lang="en-US" sz="3200" b="1" dirty="0">
              <a:solidFill>
                <a:srgbClr val="C00000"/>
              </a:solidFill>
              <a:cs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</a:fld>
            <a:endParaRPr lang="en-US"/>
          </a:p>
        </p:txBody>
      </p:sp>
      <p:pic>
        <p:nvPicPr>
          <p:cNvPr id="12" name="Content Placeholder 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99460" y="1600200"/>
            <a:ext cx="2544445" cy="45262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2890" y="182880"/>
            <a:ext cx="956310" cy="731520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39624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DEPARTMENT OF CSE MINI PROJECT </a:t>
            </a:r>
            <a:r>
              <a:rPr lang="en-US" dirty="0" smtClean="0"/>
              <a:t>REVIEW-4</a:t>
            </a:r>
            <a:endParaRPr lang="en-US" dirty="0"/>
          </a:p>
        </p:txBody>
      </p:sp>
      <p:sp>
        <p:nvSpPr>
          <p:cNvPr id="9" name="Content Placeholder 2"/>
          <p:cNvSpPr txBox="1"/>
          <p:nvPr/>
        </p:nvSpPr>
        <p:spPr bwMode="auto">
          <a:xfrm>
            <a:off x="228600" y="12954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/>
          </a:p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dirty="0">
              <a:cs typeface="Calibri" panose="020F0502020204030204"/>
            </a:endParaRPr>
          </a:p>
        </p:txBody>
      </p:sp>
      <p:sp>
        <p:nvSpPr>
          <p:cNvPr id="10" name="Footer Placeholder 6"/>
          <p:cNvSpPr txBox="1"/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  <p:pic>
        <p:nvPicPr>
          <p:cNvPr id="13" name="Content Placeholder 9" descr="WhatsApp Image 2026-01-27 at 10.45.38 PM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85800" y="1447800"/>
            <a:ext cx="3372485" cy="2573020"/>
          </a:xfrm>
          <a:prstGeom prst="rect">
            <a:avLst/>
          </a:prstGeom>
        </p:spPr>
      </p:pic>
      <p:pic>
        <p:nvPicPr>
          <p:cNvPr id="14" name="Content Placeholder 4" descr="im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1447800"/>
            <a:ext cx="3834130" cy="2510790"/>
          </a:xfrm>
          <a:prstGeom prst="rect">
            <a:avLst/>
          </a:prstGeom>
        </p:spPr>
      </p:pic>
      <p:pic>
        <p:nvPicPr>
          <p:cNvPr id="15" name="Content Placeholder 4" descr="imp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145" y="4077970"/>
            <a:ext cx="3693795" cy="2174875"/>
          </a:xfrm>
          <a:prstGeom prst="rect">
            <a:avLst/>
          </a:prstGeom>
        </p:spPr>
      </p:pic>
      <p:pic>
        <p:nvPicPr>
          <p:cNvPr id="16" name="Content Placeholder 4" descr="WhatsApp Image 2026-01-27 at 10.45.37 PM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1190" y="4111625"/>
            <a:ext cx="3644900" cy="19113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cs typeface="Calibri" panose="020F0502020204030204"/>
              </a:rPr>
              <a:t>Research Paper (Acceptance Proof)</a:t>
            </a:r>
            <a:endParaRPr lang="en-US" sz="3200" b="1" dirty="0">
              <a:solidFill>
                <a:srgbClr val="C00000"/>
              </a:solidFill>
              <a:cs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</a:fld>
            <a:endParaRPr lang="en-US"/>
          </a:p>
        </p:txBody>
      </p:sp>
      <p:pic>
        <p:nvPicPr>
          <p:cNvPr id="6" name="Content Placeholder 5" descr="WhatsApp Image 2026-04-02 at 7.04.16 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06625" y="1600200"/>
            <a:ext cx="4201795" cy="45262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/>
          <p:cNvSpPr txBox="1"/>
          <p:nvPr/>
        </p:nvSpPr>
        <p:spPr>
          <a:xfrm>
            <a:off x="3124200" y="6356350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  <p:sp>
        <p:nvSpPr>
          <p:cNvPr id="10" name="Content Placeholder 2"/>
          <p:cNvSpPr txBox="1"/>
          <p:nvPr/>
        </p:nvSpPr>
        <p:spPr bwMode="auto">
          <a:xfrm>
            <a:off x="304800" y="1066800"/>
            <a:ext cx="8763000" cy="5562600"/>
          </a:xfrm>
          <a:prstGeom prst="rect">
            <a:avLst/>
          </a:prstGeom>
          <a:ln w="25400" cap="flat" cmpd="sng" algn="ctr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endParaRPr lang="en-US" sz="2800" dirty="0">
              <a:cs typeface="Calibri" panose="020F0502020204030204"/>
            </a:endParaRPr>
          </a:p>
        </p:txBody>
      </p:sp>
      <p:sp>
        <p:nvSpPr>
          <p:cNvPr id="11" name="Footer Placeholder 6"/>
          <p:cNvSpPr txBox="1"/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  <p:pic>
        <p:nvPicPr>
          <p:cNvPr id="7" name="Picture 6" descr="WhatsApp Image 2026-04-02 at 7.04.16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0" y="1404620"/>
            <a:ext cx="3787140" cy="47218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C00000"/>
                </a:solidFill>
                <a:cs typeface="Calibri" panose="020F0502020204030204"/>
              </a:rPr>
              <a:t>Conclusion</a:t>
            </a:r>
            <a:endParaRPr lang="en-US" sz="3200" b="1" dirty="0">
              <a:solidFill>
                <a:srgbClr val="C00000"/>
              </a:solidFill>
              <a:cs typeface="Calibri" panose="020F050202020403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43355"/>
            <a:ext cx="8229600" cy="4683125"/>
          </a:xfrm>
          <a:ln w="9525">
            <a:solidFill>
              <a:schemeClr val="tx2"/>
            </a:solidFill>
          </a:ln>
        </p:spPr>
        <p:txBody>
          <a:bodyPr/>
          <a:lstStyle/>
          <a:p>
            <a:r>
              <a:rPr lang="en-US" altLang="en-US" sz="2000"/>
              <a:t>The system ensures secure cloud file sharing by encrypting data client-side and using AES with ECC for efficient, strong protection. RBAC and MFA enhance access control and user verification, providing a reliable, scalable, and secure solution for cloud data management.</a:t>
            </a:r>
            <a:endParaRPr lang="en-US" altLang="en-US" sz="2000"/>
          </a:p>
          <a:p>
            <a:endParaRPr lang="en-US" altLang="en-US" sz="2000"/>
          </a:p>
          <a:p>
            <a:r>
              <a:rPr lang="en-US" altLang="en-US" sz="2000"/>
              <a:t>Data Integrity: Ensures that files are protected from tampering during storage and transmission.</a:t>
            </a:r>
            <a:endParaRPr lang="en-US" altLang="en-US" sz="2000"/>
          </a:p>
          <a:p>
            <a:r>
              <a:rPr lang="en-US" altLang="en-US" sz="2000"/>
              <a:t>User Privacy: Sensitive user data remains confidential, even from the cloud service provider.</a:t>
            </a:r>
            <a:endParaRPr lang="en-US" altLang="en-US" sz="20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090" y="182880"/>
            <a:ext cx="956310" cy="731520"/>
          </a:xfrm>
          <a:prstGeom prst="rect">
            <a:avLst/>
          </a:prstGeom>
        </p:spPr>
      </p:pic>
      <p:sp>
        <p:nvSpPr>
          <p:cNvPr id="9" name="Footer Placeholder 6"/>
          <p:cNvSpPr txBox="1"/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763000" cy="5562600"/>
          </a:xfr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36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b="1" dirty="0"/>
          </a:p>
          <a:p>
            <a:pPr marL="514350" indent="-514350" algn="ctr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4400" b="1" dirty="0"/>
              <a:t>Thank You</a:t>
            </a:r>
            <a:endParaRPr lang="en-US" sz="4400" b="1" dirty="0"/>
          </a:p>
          <a:p>
            <a:pPr marL="514350" indent="-51435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sz="28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18D7D88-921A-4D31-AE25-21776C2970CA}" type="slidenum">
              <a:rPr lang="en-US" altLang="en-US" dirty="0">
                <a:solidFill>
                  <a:srgbClr val="898989"/>
                </a:solidFill>
              </a:rPr>
            </a:fld>
            <a:endParaRPr lang="en-US" altLang="en-US" dirty="0">
              <a:solidFill>
                <a:srgbClr val="898989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945" y="136525"/>
            <a:ext cx="956310" cy="731520"/>
          </a:xfrm>
          <a:prstGeom prst="rect">
            <a:avLst/>
          </a:prstGeom>
        </p:spPr>
      </p:pic>
      <p:sp>
        <p:nvSpPr>
          <p:cNvPr id="7" name="Footer Placeholder 6"/>
          <p:cNvSpPr txBox="1"/>
          <p:nvPr/>
        </p:nvSpPr>
        <p:spPr>
          <a:xfrm>
            <a:off x="2743200" y="6310312"/>
            <a:ext cx="396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dirty="0" smtClean="0"/>
              <a:t>DEPARTMENT OF CSE : MINI PROJECT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46*140"/>
  <p:tag name="TABLE_ENDDRAG_RECT" val="96*244*546*140"/>
</p:tagLst>
</file>

<file path=ppt/tags/tag2.xml><?xml version="1.0" encoding="utf-8"?>
<p:tagLst xmlns:p="http://schemas.openxmlformats.org/presentationml/2006/main">
  <p:tag name="TABLE_ENDDRAG_ORIGIN_RECT" val="503*222"/>
  <p:tag name="TABLE_ENDDRAG_RECT" val="108*149*503*222"/>
</p:tagLst>
</file>

<file path=ppt/tags/tag3.xml><?xml version="1.0" encoding="utf-8"?>
<p:tagLst xmlns:p="http://schemas.openxmlformats.org/presentationml/2006/main">
  <p:tag name="TABLE_ENDDRAG_ORIGIN_RECT" val="648*363"/>
  <p:tag name="TABLE_ENDDRAG_RECT" val="36*111*648*36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5414</Words>
  <Application>WPS Presentation</Application>
  <PresentationFormat>On-screen Show (4:3)</PresentationFormat>
  <Paragraphs>251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</vt:lpstr>
      <vt:lpstr>Arial,Sans-Serif</vt:lpstr>
      <vt:lpstr>Segoe Print</vt:lpstr>
      <vt:lpstr>Microsoft YaHei</vt:lpstr>
      <vt:lpstr>Arial Unicode MS</vt:lpstr>
      <vt:lpstr>Office Theme</vt:lpstr>
      <vt:lpstr>    DEPARTMENT OF COMPUTER SCIENCE AND ENGINEERING  </vt:lpstr>
      <vt:lpstr>Mini Project Outlines</vt:lpstr>
      <vt:lpstr>Introduction</vt:lpstr>
      <vt:lpstr>Existing System Vs Proposed </vt:lpstr>
      <vt:lpstr>Research Gaps</vt:lpstr>
      <vt:lpstr>Problem Statement</vt:lpstr>
      <vt:lpstr>Proposed Project Objectives</vt:lpstr>
      <vt:lpstr>Proposed Project Outcomes</vt:lpstr>
      <vt:lpstr>Software and Hardware Requirements</vt:lpstr>
      <vt:lpstr>Architectural Diagram</vt:lpstr>
      <vt:lpstr>PROPOSED METHOD AND ALGORITHMS</vt:lpstr>
      <vt:lpstr>Results</vt:lpstr>
      <vt:lpstr>Research Paper (Acceptance Proof)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Kethavath Ashwitha</cp:lastModifiedBy>
  <cp:revision>531</cp:revision>
  <dcterms:created xsi:type="dcterms:W3CDTF">2006-08-16T00:00:00Z</dcterms:created>
  <dcterms:modified xsi:type="dcterms:W3CDTF">2026-04-02T04:17:47Z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A633549497F447DBAC843DEEFC7FDF59_13</vt:lpwstr>
  </property>
  <property fmtid="{D5CDD505-2E9C-101B-9397-08002B2CF9AE}" pid="3" name="KSOProductBuildVer">
    <vt:lpwstr>1033-12.2.0.23196</vt:lpwstr>
  </property>
</Properties>
</file>